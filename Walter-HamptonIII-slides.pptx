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FEDD121-C7AD-472A-8318-B880707BDE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21105C0-A14A-4317-9A31-5C1945D8D2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C2A6A22-BA36-4B95-B74C-3978054CB0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B7026B6-F8A4-4C03-BC97-7D1ADB36AB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4DE41ED-493C-4E7D-8438-9676EC138B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512A95-0E7E-45BB-B4B7-3F59585565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B21EF49-BC11-4742-AFD9-09185CA423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73F505-98AF-4F83-B8C9-1B4B62A043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B4B194-D063-468D-A74C-7061501E9F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772CF34-7C69-4892-B007-002A23BF3E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36A029B-FD2D-468B-B67B-A2F115BD05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jpeg"/><Relationship Id="rId7" Type="http://schemas.openxmlformats.org/officeDocument/2006/relationships/image" Target="../media/image35.jpeg"/><Relationship Id="rId8" Type="http://schemas.openxmlformats.org/officeDocument/2006/relationships/image" Target="../media/image36.jpeg"/><Relationship Id="rId9" Type="http://schemas.openxmlformats.org/officeDocument/2006/relationships/image" Target="../media/image37.jpeg"/><Relationship Id="rId10" Type="http://schemas.openxmlformats.org/officeDocument/2006/relationships/image" Target="../media/image38.jpe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67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68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image" Target="../media/image72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08F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.png"/>
          <p:cNvPicPr/>
          <p:nvPr/>
        </p:nvPicPr>
        <p:blipFill>
          <a:blip r:embed="rId1"/>
          <a:stretch/>
        </p:blipFill>
        <p:spPr>
          <a:xfrm>
            <a:off x="1095480" y="1486080"/>
            <a:ext cx="10000440" cy="38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.png"/>
          <p:cNvPicPr/>
          <p:nvPr/>
        </p:nvPicPr>
        <p:blipFill>
          <a:blip r:embed="rId2"/>
          <a:stretch/>
        </p:blipFill>
        <p:spPr>
          <a:xfrm>
            <a:off x="6642360" y="1905120"/>
            <a:ext cx="4034520" cy="304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3" descr="image.png"/>
          <p:cNvPicPr/>
          <p:nvPr/>
        </p:nvPicPr>
        <p:blipFill>
          <a:blip r:embed="rId3"/>
          <a:stretch/>
        </p:blipFill>
        <p:spPr>
          <a:xfrm>
            <a:off x="1514520" y="2190600"/>
            <a:ext cx="205668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Box 4"/>
          <p:cNvSpPr/>
          <p:nvPr/>
        </p:nvSpPr>
        <p:spPr>
          <a:xfrm>
            <a:off x="1514520" y="2552760"/>
            <a:ext cx="5083560" cy="8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1E293B"/>
                </a:solidFill>
                <a:effectLst/>
                <a:uFillTx/>
                <a:latin typeface="Poppins"/>
              </a:rPr>
              <a:t>Crop Yield Prediction </a:t>
            </a:r>
            <a:r>
              <a:rPr lang="en-US" sz="2850" b="1" u="none" strike="noStrike">
                <a:solidFill>
                  <a:srgbClr val="1E293B"/>
                </a:solidFill>
                <a:effectLst/>
                <a:uFillTx/>
                <a:latin typeface="Poppins"/>
              </a:rPr>
              <a:t>Using Machine </a:t>
            </a:r>
            <a:r>
              <a:rPr lang="en-US" sz="2850" b="1" u="none" strike="noStrike">
                <a:solidFill>
                  <a:srgbClr val="1E293B"/>
                </a:solidFill>
                <a:effectLst/>
                <a:uFillTx/>
                <a:latin typeface="Poppins"/>
              </a:rPr>
              <a:t>Learning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514520" y="3781440"/>
            <a:ext cx="484128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Lato"/>
              </a:rPr>
              <a:t>County-Level Corn Yield Prediction via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Lato"/>
              </a:rPr>
              <a:t>Meteorological and Soil Sequences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514520" y="4486320"/>
            <a:ext cx="484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Lato"/>
              </a:rPr>
              <a:t>Walter Hampton III | Université Jean Monnet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7" descr="image.png"/>
          <p:cNvPicPr/>
          <p:nvPr/>
        </p:nvPicPr>
        <p:blipFill>
          <a:blip r:embed="rId4"/>
          <a:stretch/>
        </p:blipFill>
        <p:spPr>
          <a:xfrm>
            <a:off x="6661440" y="1924200"/>
            <a:ext cx="3996360" cy="300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" descr="image.png"/>
          <p:cNvPicPr/>
          <p:nvPr/>
        </p:nvPicPr>
        <p:blipFill>
          <a:blip r:embed="rId1"/>
          <a:stretch/>
        </p:blipFill>
        <p:spPr>
          <a:xfrm>
            <a:off x="704880" y="3095640"/>
            <a:ext cx="5199840" cy="19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2" descr="image.png"/>
          <p:cNvPicPr/>
          <p:nvPr/>
        </p:nvPicPr>
        <p:blipFill>
          <a:blip r:embed="rId2"/>
          <a:stretch/>
        </p:blipFill>
        <p:spPr>
          <a:xfrm>
            <a:off x="6286680" y="3095640"/>
            <a:ext cx="5199840" cy="19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Box 3"/>
          <p:cNvSpPr/>
          <p:nvPr/>
        </p:nvSpPr>
        <p:spPr>
          <a:xfrm>
            <a:off x="704880" y="514440"/>
            <a:ext cx="11320560" cy="8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Problem Statement: The Challenge of County-Level Forecasting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961920" y="3352680"/>
            <a:ext cx="491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Macro-Level Importance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961920" y="3753000"/>
            <a:ext cx="468576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Accurately predicting crop yields is a cornerstone of global food security, regional economic planning, and modern agriculture. Stakeholders rely on early forecasts to anticipate supply shocks and guide trade policies.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6543720" y="3352680"/>
            <a:ext cx="491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The Data Science Bottleneck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6543720" y="3753000"/>
            <a:ext cx="468576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Forecasting corn yields county-by-county is extremely difficult due to complex non-linear interactions between soil profiles, microclimates, farming techniques, and sudden weather shifts during pollination.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image.png"/>
          <p:cNvPicPr/>
          <p:nvPr/>
        </p:nvPicPr>
        <p:blipFill>
          <a:blip r:embed="rId1"/>
          <a:stretch/>
        </p:blipFill>
        <p:spPr>
          <a:xfrm>
            <a:off x="704880" y="2538360"/>
            <a:ext cx="3434400" cy="251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2" descr="image.png"/>
          <p:cNvPicPr/>
          <p:nvPr/>
        </p:nvPicPr>
        <p:blipFill>
          <a:blip r:embed="rId2"/>
          <a:stretch/>
        </p:blipFill>
        <p:spPr>
          <a:xfrm>
            <a:off x="4378320" y="2538360"/>
            <a:ext cx="3434760" cy="251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3" descr="image.png"/>
          <p:cNvPicPr/>
          <p:nvPr/>
        </p:nvPicPr>
        <p:blipFill>
          <a:blip r:embed="rId3"/>
          <a:stretch/>
        </p:blipFill>
        <p:spPr>
          <a:xfrm>
            <a:off x="8051760" y="2538360"/>
            <a:ext cx="3434400" cy="25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4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Context and Professional Motivation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5" descr="image.png"/>
          <p:cNvPicPr/>
          <p:nvPr/>
        </p:nvPicPr>
        <p:blipFill>
          <a:blip r:embed="rId4"/>
          <a:stretch/>
        </p:blipFill>
        <p:spPr>
          <a:xfrm>
            <a:off x="961920" y="279576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6"/>
          <p:cNvSpPr/>
          <p:nvPr/>
        </p:nvSpPr>
        <p:spPr>
          <a:xfrm>
            <a:off x="961920" y="3110040"/>
            <a:ext cx="3066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Louis Dreyfus Company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961920" y="3510000"/>
            <a:ext cx="2920320" cy="12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Aspirations to join a major global agricultural trading house where accurate bushel yield projections are vital for risk mitigation and trade execution.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8" descr="image.png"/>
          <p:cNvPicPr/>
          <p:nvPr/>
        </p:nvPicPr>
        <p:blipFill>
          <a:blip r:embed="rId5"/>
          <a:stretch/>
        </p:blipFill>
        <p:spPr>
          <a:xfrm>
            <a:off x="4635360" y="279576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9"/>
          <p:cNvSpPr/>
          <p:nvPr/>
        </p:nvSpPr>
        <p:spPr>
          <a:xfrm>
            <a:off x="4635360" y="3110040"/>
            <a:ext cx="306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M1 MLDM Research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35360" y="3510000"/>
            <a:ext cx="292032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Executed as an applied Master's project at Université Jean Monnet, demonstrating advanced predictive modeling for professional portfolios.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11" descr="image.png"/>
          <p:cNvPicPr/>
          <p:nvPr/>
        </p:nvPicPr>
        <p:blipFill>
          <a:blip r:embed="rId6"/>
          <a:stretch/>
        </p:blipFill>
        <p:spPr>
          <a:xfrm>
            <a:off x="8308800" y="279576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12"/>
          <p:cNvSpPr/>
          <p:nvPr/>
        </p:nvSpPr>
        <p:spPr>
          <a:xfrm>
            <a:off x="8308800" y="3110040"/>
            <a:ext cx="3066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Robust Forecasting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8308800" y="3510000"/>
            <a:ext cx="292032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Building rigorous, leakage-free machine learning pipelines capable of handling multi-year weather and soil sequences across 778 counties.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image.png"/>
          <p:cNvPicPr/>
          <p:nvPr/>
        </p:nvPicPr>
        <p:blipFill>
          <a:blip r:embed="rId1"/>
          <a:stretch/>
        </p:blipFill>
        <p:spPr>
          <a:xfrm>
            <a:off x="6286680" y="2952720"/>
            <a:ext cx="5199840" cy="168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2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Survey of the State of the Art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704880" y="2390760"/>
            <a:ext cx="5199840" cy="7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According to van Klompenburg et al. (2020), literature reviews indicate that temperature, rainfall, and soil makeup are the primary inputs for agricultural forecasting.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6543720" y="3209760"/>
            <a:ext cx="491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Key Research Takeaway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6543720" y="3610080"/>
            <a:ext cx="468576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Advanced predictive models must account for underlying temporal trends to accurately assess generalizability rather than blindly tracking historical momentum.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800280" y="331488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895320" y="331488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Standard Metrics: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Evaluation relies heavily on R</a:t>
            </a:r>
            <a:r>
              <a:rPr lang="en-US" sz="1350" b="0" u="none" strike="noStrike" baseline="33000">
                <a:solidFill>
                  <a:srgbClr val="475569"/>
                </a:solidFill>
                <a:effectLst/>
                <a:uFillTx/>
                <a:latin typeface="Lato"/>
              </a:rPr>
              <a:t>2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, RMSE, and MAE.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800280" y="392436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895320" y="392436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Evolution: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Transitioning from linear regression to tree models and deep sequence architectures.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800280" y="453384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895320" y="453384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Sequence Advantage: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LSTMs and CNNs capture multi-year weather accumulation and long-term trends.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image.png"/>
          <p:cNvPicPr/>
          <p:nvPr/>
        </p:nvPicPr>
        <p:blipFill>
          <a:blip r:embed="rId1"/>
          <a:stretch/>
        </p:blipFill>
        <p:spPr>
          <a:xfrm>
            <a:off x="704880" y="1976400"/>
            <a:ext cx="5199840" cy="36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image.png"/>
          <p:cNvPicPr/>
          <p:nvPr/>
        </p:nvPicPr>
        <p:blipFill>
          <a:blip r:embed="rId2"/>
          <a:stretch/>
        </p:blipFill>
        <p:spPr>
          <a:xfrm>
            <a:off x="6286680" y="2619360"/>
            <a:ext cx="5199840" cy="64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3" descr="image.png"/>
          <p:cNvPicPr/>
          <p:nvPr/>
        </p:nvPicPr>
        <p:blipFill>
          <a:blip r:embed="rId3"/>
          <a:stretch/>
        </p:blipFill>
        <p:spPr>
          <a:xfrm>
            <a:off x="6286680" y="3409920"/>
            <a:ext cx="5199840" cy="64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4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Dataset Overview: Scale, Scope, and Yield Distribution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5" descr="image.png"/>
          <p:cNvPicPr/>
          <p:nvPr/>
        </p:nvPicPr>
        <p:blipFill>
          <a:blip r:embed="rId4"/>
          <a:stretch/>
        </p:blipFill>
        <p:spPr>
          <a:xfrm>
            <a:off x="961920" y="2233440"/>
            <a:ext cx="4685760" cy="31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6"/>
          <p:cNvSpPr/>
          <p:nvPr/>
        </p:nvSpPr>
        <p:spPr>
          <a:xfrm>
            <a:off x="6286680" y="4200480"/>
            <a:ext cx="519984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The target variable (corn yield in bushels per acre) follows a normal bell curve centered around 160–175 bu/acre, bounded by natural performance extremes across 2005–2025.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6448320" y="2781360"/>
            <a:ext cx="4876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506E4B"/>
                </a:solidFill>
                <a:effectLst/>
                <a:uFillTx/>
                <a:latin typeface="Lato"/>
              </a:rPr>
              <a:t>13,736 Total Observations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6448320" y="3571920"/>
            <a:ext cx="4876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506E4B"/>
                </a:solidFill>
                <a:effectLst/>
                <a:uFillTx/>
                <a:latin typeface="Lato"/>
              </a:rPr>
              <a:t>778 Unique Counties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" descr="image.png"/>
          <p:cNvPicPr/>
          <p:nvPr/>
        </p:nvPicPr>
        <p:blipFill>
          <a:blip r:embed="rId1"/>
          <a:stretch/>
        </p:blipFill>
        <p:spPr>
          <a:xfrm>
            <a:off x="6286680" y="1976400"/>
            <a:ext cx="5199840" cy="36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2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Mapping the U.S. Corn Belt &amp; Soil Advantages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04880" y="2229120"/>
            <a:ext cx="5199840" cy="7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State-level aggregations clearly highlight the famous U.S. Corn Belt, with Iowa (IA) and Illinois (IL) leading near 180 bu/acre.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4" descr="image.png"/>
          <p:cNvPicPr/>
          <p:nvPr/>
        </p:nvPicPr>
        <p:blipFill>
          <a:blip r:embed="rId2"/>
          <a:stretch/>
        </p:blipFill>
        <p:spPr>
          <a:xfrm>
            <a:off x="6543720" y="2233440"/>
            <a:ext cx="4685760" cy="31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5"/>
          <p:cNvSpPr/>
          <p:nvPr/>
        </p:nvSpPr>
        <p:spPr>
          <a:xfrm>
            <a:off x="800280" y="318600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895320" y="318600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Mollisol Soils: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Deep, nutrient-rich glacial soils provide exceptional moisture retention.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800280" y="379584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895320" y="379584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Climatic Advantage: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Favorable summer rainfall paired with top-tier precision farming technology.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800280" y="440532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895320" y="440532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Regional Disparities: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Western/northern states average lower yields due to dry climates and irrigation limits.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" descr="image.png"/>
          <p:cNvPicPr/>
          <p:nvPr/>
        </p:nvPicPr>
        <p:blipFill>
          <a:blip r:embed="rId1"/>
          <a:stretch/>
        </p:blipFill>
        <p:spPr>
          <a:xfrm>
            <a:off x="704880" y="1766880"/>
            <a:ext cx="5199840" cy="40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2" descr="image.png"/>
          <p:cNvPicPr/>
          <p:nvPr/>
        </p:nvPicPr>
        <p:blipFill>
          <a:blip r:embed="rId2"/>
          <a:stretch/>
        </p:blipFill>
        <p:spPr>
          <a:xfrm>
            <a:off x="6286680" y="1766880"/>
            <a:ext cx="5199840" cy="11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Picture 3" descr="image.png"/>
          <p:cNvPicPr/>
          <p:nvPr/>
        </p:nvPicPr>
        <p:blipFill>
          <a:blip r:embed="rId3"/>
          <a:stretch/>
        </p:blipFill>
        <p:spPr>
          <a:xfrm>
            <a:off x="6286680" y="3100320"/>
            <a:ext cx="5199840" cy="11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4" descr="image.png"/>
          <p:cNvPicPr/>
          <p:nvPr/>
        </p:nvPicPr>
        <p:blipFill>
          <a:blip r:embed="rId4"/>
          <a:stretch/>
        </p:blipFill>
        <p:spPr>
          <a:xfrm>
            <a:off x="6286680" y="4433760"/>
            <a:ext cx="5199840" cy="138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Box 5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Historical Trends &amp; Eras: Pre-Drought to Modern Era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6" descr="image.png"/>
          <p:cNvPicPr/>
          <p:nvPr/>
        </p:nvPicPr>
        <p:blipFill>
          <a:blip r:embed="rId5"/>
          <a:stretch/>
        </p:blipFill>
        <p:spPr>
          <a:xfrm>
            <a:off x="961920" y="2023920"/>
            <a:ext cx="4685760" cy="354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7" descr="image.png"/>
          <p:cNvPicPr/>
          <p:nvPr/>
        </p:nvPicPr>
        <p:blipFill>
          <a:blip r:embed="rId6"/>
          <a:stretch/>
        </p:blipFill>
        <p:spPr>
          <a:xfrm>
            <a:off x="6448320" y="1928880"/>
            <a:ext cx="48762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8"/>
          <p:cNvSpPr/>
          <p:nvPr/>
        </p:nvSpPr>
        <p:spPr>
          <a:xfrm>
            <a:off x="6448320" y="2243160"/>
            <a:ext cx="5119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Pre-Drought Stability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6448320" y="2595600"/>
            <a:ext cx="4876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Steady productivity hovering between 140 and 160 bushels/acre.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Picture 10" descr="image.png"/>
          <p:cNvPicPr/>
          <p:nvPr/>
        </p:nvPicPr>
        <p:blipFill>
          <a:blip r:embed="rId7"/>
          <a:stretch/>
        </p:blipFill>
        <p:spPr>
          <a:xfrm>
            <a:off x="6448320" y="3262320"/>
            <a:ext cx="48762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11"/>
          <p:cNvSpPr/>
          <p:nvPr/>
        </p:nvSpPr>
        <p:spPr>
          <a:xfrm>
            <a:off x="6448320" y="3576600"/>
            <a:ext cx="5119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Extreme Drought Shock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2"/>
          <p:cNvSpPr/>
          <p:nvPr/>
        </p:nvSpPr>
        <p:spPr>
          <a:xfrm>
            <a:off x="6438960" y="3810960"/>
            <a:ext cx="48762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Zero rain during pollination caused national average to plummet to ~112 bu/acre.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13" descr="image.png"/>
          <p:cNvPicPr/>
          <p:nvPr/>
        </p:nvPicPr>
        <p:blipFill>
          <a:blip r:embed="rId8"/>
          <a:stretch/>
        </p:blipFill>
        <p:spPr>
          <a:xfrm>
            <a:off x="6448320" y="4595760"/>
            <a:ext cx="48762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14"/>
          <p:cNvSpPr/>
          <p:nvPr/>
        </p:nvSpPr>
        <p:spPr>
          <a:xfrm>
            <a:off x="6448320" y="4910040"/>
            <a:ext cx="5119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Modern Recovery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5"/>
          <p:cNvSpPr/>
          <p:nvPr/>
        </p:nvSpPr>
        <p:spPr>
          <a:xfrm>
            <a:off x="6448320" y="5262480"/>
            <a:ext cx="48762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Driven by drought-hardy seeds and smart irrigation, yields climbed toward 185 bu/acre.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" descr="image.png"/>
          <p:cNvPicPr/>
          <p:nvPr/>
        </p:nvPicPr>
        <p:blipFill>
          <a:blip r:embed="rId1"/>
          <a:stretch/>
        </p:blipFill>
        <p:spPr>
          <a:xfrm>
            <a:off x="704880" y="2795760"/>
            <a:ext cx="5199840" cy="199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2" descr="image.png"/>
          <p:cNvPicPr/>
          <p:nvPr/>
        </p:nvPicPr>
        <p:blipFill>
          <a:blip r:embed="rId2"/>
          <a:stretch/>
        </p:blipFill>
        <p:spPr>
          <a:xfrm>
            <a:off x="6286680" y="2924280"/>
            <a:ext cx="5199840" cy="174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3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Data Preprocessing &amp; Chronological Splitting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Picture 4" descr="image.png"/>
          <p:cNvPicPr/>
          <p:nvPr/>
        </p:nvPicPr>
        <p:blipFill>
          <a:blip r:embed="rId3"/>
          <a:stretch/>
        </p:blipFill>
        <p:spPr>
          <a:xfrm>
            <a:off x="961920" y="3052800"/>
            <a:ext cx="468576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Box 5"/>
          <p:cNvSpPr/>
          <p:nvPr/>
        </p:nvSpPr>
        <p:spPr>
          <a:xfrm>
            <a:off x="961920" y="3367080"/>
            <a:ext cx="491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2005 – 2022 (12,083 rows)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961920" y="3767040"/>
            <a:ext cx="4685760" cy="7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Utilized for exploratory data analysis, expanding-window time-series cross-validation, hyperparameter tuning, and initial model training.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7" descr="image.png"/>
          <p:cNvPicPr/>
          <p:nvPr/>
        </p:nvPicPr>
        <p:blipFill>
          <a:blip r:embed="rId4"/>
          <a:stretch/>
        </p:blipFill>
        <p:spPr>
          <a:xfrm>
            <a:off x="6543720" y="3181320"/>
            <a:ext cx="468576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8"/>
          <p:cNvSpPr/>
          <p:nvPr/>
        </p:nvSpPr>
        <p:spPr>
          <a:xfrm>
            <a:off x="6543720" y="3495600"/>
            <a:ext cx="491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2023 – 2025 (1,653 rows)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6543720" y="3895560"/>
            <a:ext cx="4685760" cy="7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Strictly locked away and untouched until final out-of-sample evaluation across 696 counties to prevent data leakage.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" descr="image.png"/>
          <p:cNvPicPr/>
          <p:nvPr/>
        </p:nvPicPr>
        <p:blipFill>
          <a:blip r:embed="rId1"/>
          <a:stretch/>
        </p:blipFill>
        <p:spPr>
          <a:xfrm>
            <a:off x="704880" y="2450160"/>
            <a:ext cx="2041200" cy="268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2" descr="image.png"/>
          <p:cNvPicPr/>
          <p:nvPr/>
        </p:nvPicPr>
        <p:blipFill>
          <a:blip r:embed="rId2"/>
          <a:stretch/>
        </p:blipFill>
        <p:spPr>
          <a:xfrm>
            <a:off x="2889720" y="2450160"/>
            <a:ext cx="2041560" cy="268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3" descr="image.png"/>
          <p:cNvPicPr/>
          <p:nvPr/>
        </p:nvPicPr>
        <p:blipFill>
          <a:blip r:embed="rId3"/>
          <a:stretch/>
        </p:blipFill>
        <p:spPr>
          <a:xfrm>
            <a:off x="5074920" y="2450160"/>
            <a:ext cx="2041200" cy="268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4" descr="image.png"/>
          <p:cNvPicPr/>
          <p:nvPr/>
        </p:nvPicPr>
        <p:blipFill>
          <a:blip r:embed="rId4"/>
          <a:stretch/>
        </p:blipFill>
        <p:spPr>
          <a:xfrm>
            <a:off x="7259760" y="2450160"/>
            <a:ext cx="2041560" cy="268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5" descr="image.png"/>
          <p:cNvPicPr/>
          <p:nvPr/>
        </p:nvPicPr>
        <p:blipFill>
          <a:blip r:embed="rId5"/>
          <a:stretch/>
        </p:blipFill>
        <p:spPr>
          <a:xfrm>
            <a:off x="9444960" y="2450160"/>
            <a:ext cx="2041200" cy="268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6" descr="image.png"/>
          <p:cNvPicPr/>
          <p:nvPr/>
        </p:nvPicPr>
        <p:blipFill>
          <a:blip r:embed="rId6"/>
          <a:stretch/>
        </p:blipFill>
        <p:spPr>
          <a:xfrm>
            <a:off x="866880" y="3374280"/>
            <a:ext cx="1717560" cy="95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Picture 7" descr="image.png"/>
          <p:cNvPicPr/>
          <p:nvPr/>
        </p:nvPicPr>
        <p:blipFill>
          <a:blip r:embed="rId7"/>
          <a:stretch/>
        </p:blipFill>
        <p:spPr>
          <a:xfrm>
            <a:off x="3051720" y="3374280"/>
            <a:ext cx="1717560" cy="95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8" descr="image.png"/>
          <p:cNvPicPr/>
          <p:nvPr/>
        </p:nvPicPr>
        <p:blipFill>
          <a:blip r:embed="rId8"/>
          <a:stretch/>
        </p:blipFill>
        <p:spPr>
          <a:xfrm>
            <a:off x="5236920" y="3374280"/>
            <a:ext cx="1717560" cy="95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9" descr="image.png"/>
          <p:cNvPicPr/>
          <p:nvPr/>
        </p:nvPicPr>
        <p:blipFill>
          <a:blip r:embed="rId9"/>
          <a:stretch/>
        </p:blipFill>
        <p:spPr>
          <a:xfrm>
            <a:off x="7421760" y="3374280"/>
            <a:ext cx="1717560" cy="95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10" descr="image.png"/>
          <p:cNvPicPr/>
          <p:nvPr/>
        </p:nvPicPr>
        <p:blipFill>
          <a:blip r:embed="rId10"/>
          <a:stretch/>
        </p:blipFill>
        <p:spPr>
          <a:xfrm>
            <a:off x="9606960" y="3374280"/>
            <a:ext cx="1717560" cy="95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Box 11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Crop Growth Stages &amp; Plant Morphology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12" descr="image.png"/>
          <p:cNvPicPr/>
          <p:nvPr/>
        </p:nvPicPr>
        <p:blipFill>
          <a:blip r:embed="rId11"/>
          <a:stretch/>
        </p:blipFill>
        <p:spPr>
          <a:xfrm>
            <a:off x="866880" y="2612160"/>
            <a:ext cx="171756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13"/>
          <p:cNvSpPr/>
          <p:nvPr/>
        </p:nvSpPr>
        <p:spPr>
          <a:xfrm>
            <a:off x="823680" y="2926440"/>
            <a:ext cx="1803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Recharge &amp; Planting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866880" y="4421880"/>
            <a:ext cx="17175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463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Pre-season moisture accumulation and early root development.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Picture 15" descr="image.png"/>
          <p:cNvPicPr/>
          <p:nvPr/>
        </p:nvPicPr>
        <p:blipFill>
          <a:blip r:embed="rId12"/>
          <a:stretch/>
        </p:blipFill>
        <p:spPr>
          <a:xfrm>
            <a:off x="3051720" y="2612160"/>
            <a:ext cx="171756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Box 16"/>
          <p:cNvSpPr/>
          <p:nvPr/>
        </p:nvSpPr>
        <p:spPr>
          <a:xfrm>
            <a:off x="3008880" y="2926440"/>
            <a:ext cx="18036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Pollination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3051720" y="4421880"/>
            <a:ext cx="17175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463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Critical reproductive silking window highly sensitive to extreme heat.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Picture 18" descr="image.png"/>
          <p:cNvPicPr/>
          <p:nvPr/>
        </p:nvPicPr>
        <p:blipFill>
          <a:blip r:embed="rId13"/>
          <a:stretch/>
        </p:blipFill>
        <p:spPr>
          <a:xfrm>
            <a:off x="5236920" y="2612160"/>
            <a:ext cx="171756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19"/>
          <p:cNvSpPr/>
          <p:nvPr/>
        </p:nvSpPr>
        <p:spPr>
          <a:xfrm>
            <a:off x="5193720" y="2926440"/>
            <a:ext cx="1803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Grain Fill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0"/>
          <p:cNvSpPr/>
          <p:nvPr/>
        </p:nvSpPr>
        <p:spPr>
          <a:xfrm>
            <a:off x="5236920" y="4421880"/>
            <a:ext cx="17175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463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Kernel starch accumulation determining final harvest weight.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Picture 21" descr="image.png"/>
          <p:cNvPicPr/>
          <p:nvPr/>
        </p:nvPicPr>
        <p:blipFill>
          <a:blip r:embed="rId14"/>
          <a:stretch/>
        </p:blipFill>
        <p:spPr>
          <a:xfrm>
            <a:off x="7421760" y="2612160"/>
            <a:ext cx="171756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22"/>
          <p:cNvSpPr/>
          <p:nvPr/>
        </p:nvSpPr>
        <p:spPr>
          <a:xfrm>
            <a:off x="7378920" y="2926440"/>
            <a:ext cx="18036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Harvest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7421760" y="4421880"/>
            <a:ext cx="17175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463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Dry-down phase prior to commercial field collection.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24" descr="image.png"/>
          <p:cNvPicPr/>
          <p:nvPr/>
        </p:nvPicPr>
        <p:blipFill>
          <a:blip r:embed="rId15"/>
          <a:stretch/>
        </p:blipFill>
        <p:spPr>
          <a:xfrm>
            <a:off x="9606960" y="2612160"/>
            <a:ext cx="171756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Box 25"/>
          <p:cNvSpPr/>
          <p:nvPr/>
        </p:nvSpPr>
        <p:spPr>
          <a:xfrm>
            <a:off x="9563760" y="2926440"/>
            <a:ext cx="1803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Biological Impact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6"/>
          <p:cNvSpPr/>
          <p:nvPr/>
        </p:nvSpPr>
        <p:spPr>
          <a:xfrm>
            <a:off x="9606960" y="4421880"/>
            <a:ext cx="17175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463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Vulnerability mapped across progressive seasonal windows.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" descr="image.png"/>
          <p:cNvPicPr/>
          <p:nvPr/>
        </p:nvPicPr>
        <p:blipFill>
          <a:blip r:embed="rId1"/>
          <a:stretch/>
        </p:blipFill>
        <p:spPr>
          <a:xfrm>
            <a:off x="6286680" y="2938320"/>
            <a:ext cx="5199840" cy="171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2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Leakage-Free Z-Score Weather Anomalies &amp; Aridity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704880" y="2519280"/>
            <a:ext cx="519984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Raw weather statistics can be misleading when comparing different geographic regions with distinct baseline climates.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6543720" y="3195720"/>
            <a:ext cx="491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Mathematical Formulation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Picture 5" descr="image.png"/>
          <p:cNvPicPr/>
          <p:nvPr/>
        </p:nvPicPr>
        <p:blipFill>
          <a:blip r:embed="rId2"/>
          <a:stretch/>
        </p:blipFill>
        <p:spPr>
          <a:xfrm>
            <a:off x="6543720" y="3691080"/>
            <a:ext cx="4685760" cy="70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Box 6"/>
          <p:cNvSpPr/>
          <p:nvPr/>
        </p:nvSpPr>
        <p:spPr>
          <a:xfrm>
            <a:off x="800280" y="318600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895320" y="3186000"/>
            <a:ext cx="5009400" cy="7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Z-Score Standardization: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Measures how unusual weather is relative to each county's specific historical norm (2005–2022).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8"/>
          <p:cNvSpPr/>
          <p:nvPr/>
        </p:nvSpPr>
        <p:spPr>
          <a:xfrm flipH="1">
            <a:off x="730800" y="4133880"/>
            <a:ext cx="2282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913320" y="4048920"/>
            <a:ext cx="50094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Aridity Ratios: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Evaluates moisture balance via precip</a:t>
            </a:r>
            <a:r>
              <a:rPr lang="en-US" sz="1350" b="0" i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/ (PET + 1e-5) to capture atmospheric thirst.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0"/>
          <p:cNvSpPr/>
          <p:nvPr/>
        </p:nvSpPr>
        <p:spPr>
          <a:xfrm>
            <a:off x="819360" y="502920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887040" y="498312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Noise Reduction: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Strips background climate bias so models focus purely on severe weather swings.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" descr="image.png"/>
          <p:cNvPicPr/>
          <p:nvPr/>
        </p:nvPicPr>
        <p:blipFill>
          <a:blip r:embed="rId1"/>
          <a:stretch/>
        </p:blipFill>
        <p:spPr>
          <a:xfrm>
            <a:off x="6286680" y="1976400"/>
            <a:ext cx="5199840" cy="36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2" descr="image.png"/>
          <p:cNvPicPr/>
          <p:nvPr/>
        </p:nvPicPr>
        <p:blipFill>
          <a:blip r:embed="rId2"/>
          <a:stretch/>
        </p:blipFill>
        <p:spPr>
          <a:xfrm>
            <a:off x="704880" y="2333520"/>
            <a:ext cx="5199840" cy="138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3" descr="image.png"/>
          <p:cNvPicPr/>
          <p:nvPr/>
        </p:nvPicPr>
        <p:blipFill>
          <a:blip r:embed="rId3"/>
          <a:stretch/>
        </p:blipFill>
        <p:spPr>
          <a:xfrm>
            <a:off x="704880" y="3867120"/>
            <a:ext cx="5199840" cy="138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Box 4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Soil Hydrology as a Buffer: USDA SSURGO AWC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Picture 5" descr="image.png"/>
          <p:cNvPicPr/>
          <p:nvPr/>
        </p:nvPicPr>
        <p:blipFill>
          <a:blip r:embed="rId4"/>
          <a:stretch/>
        </p:blipFill>
        <p:spPr>
          <a:xfrm>
            <a:off x="6543720" y="2233440"/>
            <a:ext cx="4685760" cy="312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Picture 6" descr="image.png"/>
          <p:cNvPicPr/>
          <p:nvPr/>
        </p:nvPicPr>
        <p:blipFill>
          <a:blip r:embed="rId5"/>
          <a:stretch/>
        </p:blipFill>
        <p:spPr>
          <a:xfrm>
            <a:off x="866880" y="2495520"/>
            <a:ext cx="48762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Box 7"/>
          <p:cNvSpPr/>
          <p:nvPr/>
        </p:nvSpPr>
        <p:spPr>
          <a:xfrm>
            <a:off x="866880" y="2809800"/>
            <a:ext cx="5119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Available Water Capacity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8"/>
          <p:cNvSpPr/>
          <p:nvPr/>
        </p:nvSpPr>
        <p:spPr>
          <a:xfrm>
            <a:off x="866880" y="3162240"/>
            <a:ext cx="48762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Quantifies soil moisture retention capabilities, acting as a natural sponge during dry summer spells.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Picture 9" descr="image.png"/>
          <p:cNvPicPr/>
          <p:nvPr/>
        </p:nvPicPr>
        <p:blipFill>
          <a:blip r:embed="rId6"/>
          <a:stretch/>
        </p:blipFill>
        <p:spPr>
          <a:xfrm>
            <a:off x="866880" y="4029120"/>
            <a:ext cx="487620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Box 10"/>
          <p:cNvSpPr/>
          <p:nvPr/>
        </p:nvSpPr>
        <p:spPr>
          <a:xfrm>
            <a:off x="866880" y="4343400"/>
            <a:ext cx="5119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Organic Matter (OM)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1"/>
          <p:cNvSpPr/>
          <p:nvPr/>
        </p:nvSpPr>
        <p:spPr>
          <a:xfrm>
            <a:off x="866880" y="4695840"/>
            <a:ext cx="487620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High organic content improves soil structure and resilience against extreme thermal stress.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1" descr="image.png"/>
          <p:cNvPicPr/>
          <p:nvPr/>
        </p:nvPicPr>
        <p:blipFill>
          <a:blip r:embed="rId1"/>
          <a:stretch/>
        </p:blipFill>
        <p:spPr>
          <a:xfrm>
            <a:off x="704880" y="2938320"/>
            <a:ext cx="34344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2" descr="image.png"/>
          <p:cNvPicPr/>
          <p:nvPr/>
        </p:nvPicPr>
        <p:blipFill>
          <a:blip r:embed="rId2"/>
          <a:stretch/>
        </p:blipFill>
        <p:spPr>
          <a:xfrm>
            <a:off x="4378320" y="2938320"/>
            <a:ext cx="343476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3" descr="image.png"/>
          <p:cNvPicPr/>
          <p:nvPr/>
        </p:nvPicPr>
        <p:blipFill>
          <a:blip r:embed="rId3"/>
          <a:stretch/>
        </p:blipFill>
        <p:spPr>
          <a:xfrm>
            <a:off x="8051760" y="2938320"/>
            <a:ext cx="3434400" cy="22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Box 4"/>
          <p:cNvSpPr/>
          <p:nvPr/>
        </p:nvSpPr>
        <p:spPr>
          <a:xfrm>
            <a:off x="704880" y="514440"/>
            <a:ext cx="11320560" cy="8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Selection of Machine Learning &amp; Deep Learning Techniques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Picture 5" descr="image.png"/>
          <p:cNvPicPr/>
          <p:nvPr/>
        </p:nvPicPr>
        <p:blipFill>
          <a:blip r:embed="rId4"/>
          <a:stretch/>
        </p:blipFill>
        <p:spPr>
          <a:xfrm>
            <a:off x="961920" y="319572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6"/>
          <p:cNvSpPr/>
          <p:nvPr/>
        </p:nvSpPr>
        <p:spPr>
          <a:xfrm>
            <a:off x="961920" y="3510000"/>
            <a:ext cx="3066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Tree Ensembles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7"/>
          <p:cNvSpPr/>
          <p:nvPr/>
        </p:nvSpPr>
        <p:spPr>
          <a:xfrm>
            <a:off x="961920" y="3909960"/>
            <a:ext cx="292032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Random Forest, XGBoost, and LightGBM selected for exceptional handling of messy tabular features and sharp environmental thresholds.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Picture 8" descr="image.png"/>
          <p:cNvPicPr/>
          <p:nvPr/>
        </p:nvPicPr>
        <p:blipFill>
          <a:blip r:embed="rId5"/>
          <a:stretch/>
        </p:blipFill>
        <p:spPr>
          <a:xfrm>
            <a:off x="4635360" y="319572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Box 9"/>
          <p:cNvSpPr/>
          <p:nvPr/>
        </p:nvSpPr>
        <p:spPr>
          <a:xfrm>
            <a:off x="4635360" y="3510000"/>
            <a:ext cx="306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LSTM &amp; 1D CNN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4635360" y="3909960"/>
            <a:ext cx="292032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Custom PyTorch sequence architectures implemented to capture multi-year weather trajectories and seasonal accumulation.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Picture 11" descr="image.png"/>
          <p:cNvPicPr/>
          <p:nvPr/>
        </p:nvPicPr>
        <p:blipFill>
          <a:blip r:embed="rId6"/>
          <a:stretch/>
        </p:blipFill>
        <p:spPr>
          <a:xfrm>
            <a:off x="8308800" y="319572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Box 12"/>
          <p:cNvSpPr/>
          <p:nvPr/>
        </p:nvSpPr>
        <p:spPr>
          <a:xfrm>
            <a:off x="8308800" y="3510000"/>
            <a:ext cx="3066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Meta-Models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3"/>
          <p:cNvSpPr/>
          <p:nvPr/>
        </p:nvSpPr>
        <p:spPr>
          <a:xfrm>
            <a:off x="8308800" y="3909960"/>
            <a:ext cx="292032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Stacking regressors combining tree models with regularized Ridge Regression to smooth individual prediction variances.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1" descr="image.png"/>
          <p:cNvPicPr/>
          <p:nvPr/>
        </p:nvPicPr>
        <p:blipFill>
          <a:blip r:embed="rId1"/>
          <a:stretch/>
        </p:blipFill>
        <p:spPr>
          <a:xfrm>
            <a:off x="704880" y="3095640"/>
            <a:ext cx="5199840" cy="19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2" descr="image.png"/>
          <p:cNvPicPr/>
          <p:nvPr/>
        </p:nvPicPr>
        <p:blipFill>
          <a:blip r:embed="rId2"/>
          <a:stretch/>
        </p:blipFill>
        <p:spPr>
          <a:xfrm>
            <a:off x="6286680" y="3095640"/>
            <a:ext cx="5199840" cy="19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Box 3"/>
          <p:cNvSpPr/>
          <p:nvPr/>
        </p:nvSpPr>
        <p:spPr>
          <a:xfrm>
            <a:off x="704880" y="514440"/>
            <a:ext cx="11320560" cy="8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Hyperparameter Tuning &amp; TensorFlow/Keras Architectural Pivots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961920" y="3352680"/>
            <a:ext cx="491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Hyperparameter Search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961920" y="3753000"/>
            <a:ext cx="468576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Expanding-window time-series cross-validation was used to tune tree depths, learning rates, subsample ratios, and regularization parameters, ensuring models generalized cleanly across time.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6543720" y="3352680"/>
            <a:ext cx="491976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TensorFlow/Keras LSTM Bottleneck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7"/>
          <p:cNvSpPr/>
          <p:nvPr/>
        </p:nvSpPr>
        <p:spPr>
          <a:xfrm>
            <a:off x="6534720" y="3638160"/>
            <a:ext cx="468576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Initial sequence LSTMs built in TensorFlow/Keras suffered from excessive epoch training times (&gt;1 hour) due to high-dimensional tensor shapes, driving a successful pivot to lighter PyTorch sequence and boosted tree frameworks.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8"/>
          <p:cNvSpPr/>
          <p:nvPr/>
        </p:nvSpPr>
        <p:spPr>
          <a:xfrm>
            <a:off x="704880" y="514440"/>
            <a:ext cx="113205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Naive Trend-Drift vs. Actual Corn Yield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1"/>
          <p:cNvSpPr/>
          <p:nvPr/>
        </p:nvSpPr>
        <p:spPr>
          <a:xfrm>
            <a:off x="685800" y="1143000"/>
            <a:ext cx="10781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We can see that the Naive Trend-Drift gets very close in some years while anomalies throw the predictions off.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"/>
          <p:cNvPicPr/>
          <p:nvPr/>
        </p:nvPicPr>
        <p:blipFill>
          <a:blip r:embed="rId1"/>
          <a:stretch/>
        </p:blipFill>
        <p:spPr>
          <a:xfrm>
            <a:off x="1094040" y="1804320"/>
            <a:ext cx="9192600" cy="459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54"/>
          <p:cNvSpPr/>
          <p:nvPr/>
        </p:nvSpPr>
        <p:spPr>
          <a:xfrm>
            <a:off x="704880" y="514440"/>
            <a:ext cx="113205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Comprehensive Model Performance Comparison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55"/>
          <p:cNvSpPr/>
          <p:nvPr/>
        </p:nvSpPr>
        <p:spPr>
          <a:xfrm>
            <a:off x="704880" y="5586480"/>
            <a:ext cx="1078164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As Table 1 shows, gradient-boosted trees and ensembles beat both the basic benchmark and the deep learning setups when predicting out-of-sample county yields (2023-2025).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4" name="Table 1"/>
          <p:cNvGraphicFramePr/>
          <p:nvPr/>
        </p:nvGraphicFramePr>
        <p:xfrm>
          <a:off x="704880" y="1490760"/>
          <a:ext cx="10781280" cy="3856320"/>
        </p:xfrm>
        <a:graphic>
          <a:graphicData uri="http://schemas.openxmlformats.org/drawingml/2006/table">
            <a:tbl>
              <a:tblPr/>
              <a:tblGrid>
                <a:gridCol w="4595400"/>
                <a:gridCol w="1522800"/>
                <a:gridCol w="2392920"/>
                <a:gridCol w="2270520"/>
              </a:tblGrid>
              <a:tr h="482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Poppins"/>
                        </a:rPr>
                        <a:t>Model Architecture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Poppins"/>
                        </a:rPr>
                        <a:t>R</a:t>
                      </a:r>
                      <a:r>
                        <a:rPr lang="en-US" sz="1279" b="1" u="none" strike="noStrike" baseline="33000">
                          <a:solidFill>
                            <a:srgbClr val="334155"/>
                          </a:solidFill>
                          <a:effectLst/>
                          <a:uFillTx/>
                          <a:latin typeface="Poppins"/>
                        </a:rPr>
                        <a:t>2</a:t>
                      </a: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Poppins"/>
                        </a:rPr>
                        <a:t> Score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Poppins"/>
                        </a:rPr>
                        <a:t>RMSE (bu/acre)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Poppins"/>
                        </a:rPr>
                        <a:t>MAE (bu/acre)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82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Naive Trend-Drift Benchmark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0.604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23.080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17.635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82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Random Forest (Tuned)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0.767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17.718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13.895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482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XGBoost Boosted Tree (Tuned)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0.779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17.259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13.483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0FDF4"/>
                    </a:solidFill>
                  </a:tcPr>
                </a:tc>
              </a:tr>
              <a:tr h="482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LightGBM Tree (Tuned)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0.772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17.519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13.639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482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Stacking Ensemble (RF + XGB + LGB)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0.769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17.629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13.667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82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Sequence-Based Neural Net (LSTM)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0.652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20.061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15.895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482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1D Convolutional Neural Network (CNN)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0.640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20.405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Lato"/>
                        </a:rPr>
                        <a:t>15.662</a:t>
                      </a:r>
                      <a:endParaRPr lang="en-US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5" name="Rectangle 1"/>
          <p:cNvSpPr/>
          <p:nvPr/>
        </p:nvSpPr>
        <p:spPr>
          <a:xfrm>
            <a:off x="704880" y="2000160"/>
            <a:ext cx="459504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2"/>
          <p:cNvSpPr/>
          <p:nvPr/>
        </p:nvSpPr>
        <p:spPr>
          <a:xfrm>
            <a:off x="5300640" y="2000160"/>
            <a:ext cx="152208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ectangle 3"/>
          <p:cNvSpPr/>
          <p:nvPr/>
        </p:nvSpPr>
        <p:spPr>
          <a:xfrm>
            <a:off x="6823440" y="2000160"/>
            <a:ext cx="239220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36"/>
          <p:cNvSpPr/>
          <p:nvPr/>
        </p:nvSpPr>
        <p:spPr>
          <a:xfrm>
            <a:off x="9216360" y="2000160"/>
            <a:ext cx="227016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37"/>
          <p:cNvSpPr/>
          <p:nvPr/>
        </p:nvSpPr>
        <p:spPr>
          <a:xfrm>
            <a:off x="704880" y="2476440"/>
            <a:ext cx="459504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38"/>
          <p:cNvSpPr/>
          <p:nvPr/>
        </p:nvSpPr>
        <p:spPr>
          <a:xfrm>
            <a:off x="5300640" y="2476440"/>
            <a:ext cx="152208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39"/>
          <p:cNvSpPr/>
          <p:nvPr/>
        </p:nvSpPr>
        <p:spPr>
          <a:xfrm>
            <a:off x="6823440" y="2476440"/>
            <a:ext cx="239220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40"/>
          <p:cNvSpPr/>
          <p:nvPr/>
        </p:nvSpPr>
        <p:spPr>
          <a:xfrm>
            <a:off x="9216360" y="2476440"/>
            <a:ext cx="227016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41"/>
          <p:cNvSpPr/>
          <p:nvPr/>
        </p:nvSpPr>
        <p:spPr>
          <a:xfrm>
            <a:off x="704880" y="2952720"/>
            <a:ext cx="459504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42"/>
          <p:cNvSpPr/>
          <p:nvPr/>
        </p:nvSpPr>
        <p:spPr>
          <a:xfrm>
            <a:off x="5300640" y="2952720"/>
            <a:ext cx="152208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43"/>
          <p:cNvSpPr/>
          <p:nvPr/>
        </p:nvSpPr>
        <p:spPr>
          <a:xfrm>
            <a:off x="6823440" y="2952720"/>
            <a:ext cx="239220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ectangle 44"/>
          <p:cNvSpPr/>
          <p:nvPr/>
        </p:nvSpPr>
        <p:spPr>
          <a:xfrm>
            <a:off x="9216360" y="2952720"/>
            <a:ext cx="227016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45"/>
          <p:cNvSpPr/>
          <p:nvPr/>
        </p:nvSpPr>
        <p:spPr>
          <a:xfrm>
            <a:off x="704880" y="3429000"/>
            <a:ext cx="459504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ectangle 46"/>
          <p:cNvSpPr/>
          <p:nvPr/>
        </p:nvSpPr>
        <p:spPr>
          <a:xfrm>
            <a:off x="5300640" y="3429000"/>
            <a:ext cx="152208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47"/>
          <p:cNvSpPr/>
          <p:nvPr/>
        </p:nvSpPr>
        <p:spPr>
          <a:xfrm>
            <a:off x="6823440" y="3429000"/>
            <a:ext cx="239220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48"/>
          <p:cNvSpPr/>
          <p:nvPr/>
        </p:nvSpPr>
        <p:spPr>
          <a:xfrm>
            <a:off x="9216360" y="3429000"/>
            <a:ext cx="227016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49"/>
          <p:cNvSpPr/>
          <p:nvPr/>
        </p:nvSpPr>
        <p:spPr>
          <a:xfrm>
            <a:off x="704880" y="3905280"/>
            <a:ext cx="459504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50"/>
          <p:cNvSpPr/>
          <p:nvPr/>
        </p:nvSpPr>
        <p:spPr>
          <a:xfrm>
            <a:off x="5300640" y="3905280"/>
            <a:ext cx="152208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51"/>
          <p:cNvSpPr/>
          <p:nvPr/>
        </p:nvSpPr>
        <p:spPr>
          <a:xfrm>
            <a:off x="6823440" y="3905280"/>
            <a:ext cx="239220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ectangle 52"/>
          <p:cNvSpPr/>
          <p:nvPr/>
        </p:nvSpPr>
        <p:spPr>
          <a:xfrm>
            <a:off x="9216360" y="3905280"/>
            <a:ext cx="227016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53"/>
          <p:cNvSpPr/>
          <p:nvPr/>
        </p:nvSpPr>
        <p:spPr>
          <a:xfrm>
            <a:off x="704880" y="4381560"/>
            <a:ext cx="459504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ectangle 54"/>
          <p:cNvSpPr/>
          <p:nvPr/>
        </p:nvSpPr>
        <p:spPr>
          <a:xfrm>
            <a:off x="5300640" y="4381560"/>
            <a:ext cx="152208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55"/>
          <p:cNvSpPr/>
          <p:nvPr/>
        </p:nvSpPr>
        <p:spPr>
          <a:xfrm>
            <a:off x="6823440" y="4381560"/>
            <a:ext cx="239220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56"/>
          <p:cNvSpPr/>
          <p:nvPr/>
        </p:nvSpPr>
        <p:spPr>
          <a:xfrm>
            <a:off x="9216360" y="4381560"/>
            <a:ext cx="227016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ctangle 57"/>
          <p:cNvSpPr/>
          <p:nvPr/>
        </p:nvSpPr>
        <p:spPr>
          <a:xfrm>
            <a:off x="704880" y="4857840"/>
            <a:ext cx="459504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Rectangle 58"/>
          <p:cNvSpPr/>
          <p:nvPr/>
        </p:nvSpPr>
        <p:spPr>
          <a:xfrm>
            <a:off x="5300640" y="4857840"/>
            <a:ext cx="152208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ectangle 59"/>
          <p:cNvSpPr/>
          <p:nvPr/>
        </p:nvSpPr>
        <p:spPr>
          <a:xfrm>
            <a:off x="6823440" y="4857840"/>
            <a:ext cx="239220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60"/>
          <p:cNvSpPr/>
          <p:nvPr/>
        </p:nvSpPr>
        <p:spPr>
          <a:xfrm>
            <a:off x="9216360" y="4857840"/>
            <a:ext cx="227016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61"/>
          <p:cNvSpPr/>
          <p:nvPr/>
        </p:nvSpPr>
        <p:spPr>
          <a:xfrm>
            <a:off x="704880" y="5334120"/>
            <a:ext cx="459504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62"/>
          <p:cNvSpPr/>
          <p:nvPr/>
        </p:nvSpPr>
        <p:spPr>
          <a:xfrm>
            <a:off x="5300640" y="5334120"/>
            <a:ext cx="152208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63"/>
          <p:cNvSpPr/>
          <p:nvPr/>
        </p:nvSpPr>
        <p:spPr>
          <a:xfrm>
            <a:off x="6823440" y="5334120"/>
            <a:ext cx="239220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64"/>
          <p:cNvSpPr/>
          <p:nvPr/>
        </p:nvSpPr>
        <p:spPr>
          <a:xfrm>
            <a:off x="9216360" y="5334120"/>
            <a:ext cx="2270160" cy="86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52"/>
          <p:cNvSpPr/>
          <p:nvPr/>
        </p:nvSpPr>
        <p:spPr>
          <a:xfrm>
            <a:off x="704880" y="514440"/>
            <a:ext cx="113205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Benchmark Performance vs. Naive Trend-Drift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53"/>
          <p:cNvSpPr/>
          <p:nvPr/>
        </p:nvSpPr>
        <p:spPr>
          <a:xfrm>
            <a:off x="685800" y="1143000"/>
            <a:ext cx="10781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To give an idea a bushel of corn is about 25kg and 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an acre is ~4000m</a:t>
            </a:r>
            <a:r>
              <a:rPr lang="en-US" sz="1350" b="0" u="none" strike="noStrike" baseline="33000">
                <a:solidFill>
                  <a:srgbClr val="475569"/>
                </a:solidFill>
                <a:effectLst/>
                <a:uFillTx/>
                <a:latin typeface="Lato"/>
              </a:rPr>
              <a:t>2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.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"/>
          <p:cNvPicPr/>
          <p:nvPr/>
        </p:nvPicPr>
        <p:blipFill>
          <a:blip r:embed="rId1"/>
          <a:stretch/>
        </p:blipFill>
        <p:spPr>
          <a:xfrm>
            <a:off x="1094040" y="1804320"/>
            <a:ext cx="9192600" cy="459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1" descr="image.png"/>
          <p:cNvPicPr/>
          <p:nvPr/>
        </p:nvPicPr>
        <p:blipFill>
          <a:blip r:embed="rId1"/>
          <a:stretch/>
        </p:blipFill>
        <p:spPr>
          <a:xfrm>
            <a:off x="704880" y="2666880"/>
            <a:ext cx="34344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2" descr="image.png"/>
          <p:cNvPicPr/>
          <p:nvPr/>
        </p:nvPicPr>
        <p:blipFill>
          <a:blip r:embed="rId2"/>
          <a:stretch/>
        </p:blipFill>
        <p:spPr>
          <a:xfrm>
            <a:off x="4378320" y="2666880"/>
            <a:ext cx="343476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Picture 3" descr="image.png"/>
          <p:cNvPicPr/>
          <p:nvPr/>
        </p:nvPicPr>
        <p:blipFill>
          <a:blip r:embed="rId3"/>
          <a:stretch/>
        </p:blipFill>
        <p:spPr>
          <a:xfrm>
            <a:off x="8051760" y="2666880"/>
            <a:ext cx="3434400" cy="22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Box 4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Model Evaluation: Tree Ensembles vs. Neural Nets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Picture 5" descr="image.png"/>
          <p:cNvPicPr/>
          <p:nvPr/>
        </p:nvPicPr>
        <p:blipFill>
          <a:blip r:embed="rId4"/>
          <a:stretch/>
        </p:blipFill>
        <p:spPr>
          <a:xfrm>
            <a:off x="96192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Box 6"/>
          <p:cNvSpPr/>
          <p:nvPr/>
        </p:nvSpPr>
        <p:spPr>
          <a:xfrm>
            <a:off x="961920" y="3238560"/>
            <a:ext cx="3066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XGBoost &amp; LightGBM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7"/>
          <p:cNvSpPr/>
          <p:nvPr/>
        </p:nvSpPr>
        <p:spPr>
          <a:xfrm>
            <a:off x="961920" y="3638520"/>
            <a:ext cx="292032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Gradient-boosted trees achieved superior stability 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and predictive accuracy (R</a:t>
            </a:r>
            <a:r>
              <a:rPr lang="en-US" sz="1350" b="0" u="none" strike="noStrike" baseline="33000">
                <a:solidFill>
                  <a:srgbClr val="475569"/>
                </a:solidFill>
                <a:effectLst/>
                <a:uFillTx/>
                <a:latin typeface="Lato"/>
              </a:rPr>
              <a:t>2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~ 0.78) on messy 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tabular features.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8" descr="image.png"/>
          <p:cNvPicPr/>
          <p:nvPr/>
        </p:nvPicPr>
        <p:blipFill>
          <a:blip r:embed="rId5"/>
          <a:stretch/>
        </p:blipFill>
        <p:spPr>
          <a:xfrm>
            <a:off x="463536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Box 9"/>
          <p:cNvSpPr/>
          <p:nvPr/>
        </p:nvSpPr>
        <p:spPr>
          <a:xfrm>
            <a:off x="4635360" y="3238560"/>
            <a:ext cx="30664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LSTM &amp; 1D CNN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0"/>
          <p:cNvSpPr/>
          <p:nvPr/>
        </p:nvSpPr>
        <p:spPr>
          <a:xfrm>
            <a:off x="4635360" y="3638520"/>
            <a:ext cx="292032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  <a:ea typeface="Microsoft YaHei"/>
              </a:rPr>
              <a:t>Sequence neural networks scored lower (R</a:t>
            </a:r>
            <a:r>
              <a:rPr lang="en-US" sz="1350" b="0" u="none" strike="noStrike" baseline="33000">
                <a:solidFill>
                  <a:srgbClr val="475569"/>
                </a:solidFill>
                <a:effectLst/>
                <a:uFillTx/>
                <a:latin typeface="Lato"/>
                <a:ea typeface="Microsoft YaHei"/>
              </a:rPr>
              <a:t>2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  <a:ea typeface="Microsoft YaHei"/>
              </a:rPr>
              <a:t> = 0.65 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  <a:ea typeface="Microsoft YaHei"/>
              </a:rPr>
              <a:t>and 0.59), struggling with tabular noise and smaller 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  <a:ea typeface="Microsoft YaHei"/>
              </a:rPr>
              <a:t>sample sizes.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Picture 11" descr="image.png"/>
          <p:cNvPicPr/>
          <p:nvPr/>
        </p:nvPicPr>
        <p:blipFill>
          <a:blip r:embed="rId6"/>
          <a:stretch/>
        </p:blipFill>
        <p:spPr>
          <a:xfrm>
            <a:off x="830880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Box 12"/>
          <p:cNvSpPr/>
          <p:nvPr/>
        </p:nvSpPr>
        <p:spPr>
          <a:xfrm>
            <a:off x="8308800" y="3238560"/>
            <a:ext cx="3066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Axis-Aligned Splits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3"/>
          <p:cNvSpPr/>
          <p:nvPr/>
        </p:nvSpPr>
        <p:spPr>
          <a:xfrm>
            <a:off x="8308800" y="3638520"/>
            <a:ext cx="292032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Tree models naturally handle irregular decision boundaries and non-linear climate thresholds without scaling overhead.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icture 1" descr="image.png"/>
          <p:cNvPicPr/>
          <p:nvPr/>
        </p:nvPicPr>
        <p:blipFill>
          <a:blip r:embed="rId1"/>
          <a:stretch/>
        </p:blipFill>
        <p:spPr>
          <a:xfrm>
            <a:off x="6286680" y="1976400"/>
            <a:ext cx="5199840" cy="36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Box 2"/>
          <p:cNvSpPr/>
          <p:nvPr/>
        </p:nvSpPr>
        <p:spPr>
          <a:xfrm>
            <a:off x="704880" y="514440"/>
            <a:ext cx="113205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Feature Importance: Pollination &amp; Yield Lags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3" descr="image.png"/>
          <p:cNvPicPr/>
          <p:nvPr/>
        </p:nvPicPr>
        <p:blipFill>
          <a:blip r:embed="rId2"/>
          <a:stretch/>
        </p:blipFill>
        <p:spPr>
          <a:xfrm>
            <a:off x="6543720" y="2233440"/>
            <a:ext cx="4685760" cy="31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Box 4"/>
          <p:cNvSpPr/>
          <p:nvPr/>
        </p:nvSpPr>
        <p:spPr>
          <a:xfrm>
            <a:off x="800280" y="280044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5"/>
          <p:cNvSpPr/>
          <p:nvPr/>
        </p:nvSpPr>
        <p:spPr>
          <a:xfrm>
            <a:off x="895320" y="2800440"/>
            <a:ext cx="5009400" cy="7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Historical Lags: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yield_lag_1 and yield_lag_3 score highest due to capturing local management habits and soil fertility.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6"/>
          <p:cNvSpPr/>
          <p:nvPr/>
        </p:nvSpPr>
        <p:spPr>
          <a:xfrm>
            <a:off x="800280" y="366696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7"/>
          <p:cNvSpPr/>
          <p:nvPr/>
        </p:nvSpPr>
        <p:spPr>
          <a:xfrm>
            <a:off x="895320" y="366696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Pollination Dominance: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Weather during the pollination window alone drives over 45% of total predictive power.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8"/>
          <p:cNvSpPr/>
          <p:nvPr/>
        </p:nvSpPr>
        <p:spPr>
          <a:xfrm>
            <a:off x="800280" y="4276800"/>
            <a:ext cx="94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9"/>
          <p:cNvSpPr/>
          <p:nvPr/>
        </p:nvSpPr>
        <p:spPr>
          <a:xfrm>
            <a:off x="895320" y="427680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Grain Fill Impact: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Contributes an additional 21% of model importance during kernel weight determination.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Picture 14" descr="image.png"/>
          <p:cNvPicPr/>
          <p:nvPr/>
        </p:nvPicPr>
        <p:blipFill>
          <a:blip r:embed="rId1"/>
          <a:stretch/>
        </p:blipFill>
        <p:spPr>
          <a:xfrm>
            <a:off x="6286680" y="1976400"/>
            <a:ext cx="5199840" cy="36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Box 24"/>
          <p:cNvSpPr/>
          <p:nvPr/>
        </p:nvSpPr>
        <p:spPr>
          <a:xfrm>
            <a:off x="704880" y="514440"/>
            <a:ext cx="113205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Feature Importance: Pollination &amp; Yield Lags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Picture 16" descr="image.png"/>
          <p:cNvPicPr/>
          <p:nvPr/>
        </p:nvPicPr>
        <p:blipFill>
          <a:blip r:embed="rId2"/>
          <a:stretch/>
        </p:blipFill>
        <p:spPr>
          <a:xfrm>
            <a:off x="6543720" y="2233440"/>
            <a:ext cx="4685760" cy="31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Box 27"/>
          <p:cNvSpPr/>
          <p:nvPr/>
        </p:nvSpPr>
        <p:spPr>
          <a:xfrm>
            <a:off x="800280" y="2800440"/>
            <a:ext cx="946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8"/>
          <p:cNvSpPr/>
          <p:nvPr/>
        </p:nvSpPr>
        <p:spPr>
          <a:xfrm>
            <a:off x="895320" y="2800440"/>
            <a:ext cx="5009400" cy="77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Historical Lags: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yield_lag_1 and yield_lag_3 score highest due to capturing local management habits and soil fertility.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9"/>
          <p:cNvSpPr/>
          <p:nvPr/>
        </p:nvSpPr>
        <p:spPr>
          <a:xfrm>
            <a:off x="800280" y="3666960"/>
            <a:ext cx="946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30"/>
          <p:cNvSpPr/>
          <p:nvPr/>
        </p:nvSpPr>
        <p:spPr>
          <a:xfrm>
            <a:off x="895320" y="366696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Pollination Dominance: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Weather during the pollination window alone drives over 45% of total predictive power.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31"/>
          <p:cNvSpPr/>
          <p:nvPr/>
        </p:nvSpPr>
        <p:spPr>
          <a:xfrm>
            <a:off x="800280" y="4276800"/>
            <a:ext cx="946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32"/>
          <p:cNvSpPr/>
          <p:nvPr/>
        </p:nvSpPr>
        <p:spPr>
          <a:xfrm>
            <a:off x="895320" y="4276800"/>
            <a:ext cx="50094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540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Grain Fill Impact: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 Contributes an additional 21% of model importance during kernel weight determination.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17" descr="image.png"/>
          <p:cNvPicPr/>
          <p:nvPr/>
        </p:nvPicPr>
        <p:blipFill>
          <a:blip r:embed="rId1"/>
          <a:stretch/>
        </p:blipFill>
        <p:spPr>
          <a:xfrm>
            <a:off x="704880" y="2666880"/>
            <a:ext cx="34344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Picture 19" descr="image.png"/>
          <p:cNvPicPr/>
          <p:nvPr/>
        </p:nvPicPr>
        <p:blipFill>
          <a:blip r:embed="rId2"/>
          <a:stretch/>
        </p:blipFill>
        <p:spPr>
          <a:xfrm>
            <a:off x="4378320" y="2666880"/>
            <a:ext cx="343476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Picture 20" descr="image.png"/>
          <p:cNvPicPr/>
          <p:nvPr/>
        </p:nvPicPr>
        <p:blipFill>
          <a:blip r:embed="rId3"/>
          <a:stretch/>
        </p:blipFill>
        <p:spPr>
          <a:xfrm>
            <a:off x="8051760" y="2666880"/>
            <a:ext cx="3434400" cy="22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Box 33"/>
          <p:cNvSpPr/>
          <p:nvPr/>
        </p:nvSpPr>
        <p:spPr>
          <a:xfrm>
            <a:off x="704880" y="514440"/>
            <a:ext cx="113205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What I Learned: Core Research Takeaways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Picture 22" descr="image.png"/>
          <p:cNvPicPr/>
          <p:nvPr/>
        </p:nvPicPr>
        <p:blipFill>
          <a:blip r:embed="rId4"/>
          <a:stretch/>
        </p:blipFill>
        <p:spPr>
          <a:xfrm>
            <a:off x="96192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Box 34"/>
          <p:cNvSpPr/>
          <p:nvPr/>
        </p:nvSpPr>
        <p:spPr>
          <a:xfrm>
            <a:off x="961920" y="3238560"/>
            <a:ext cx="30661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Leakage Prevention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35"/>
          <p:cNvSpPr/>
          <p:nvPr/>
        </p:nvSpPr>
        <p:spPr>
          <a:xfrm>
            <a:off x="961920" y="3638520"/>
            <a:ext cx="292032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Strict chronological splitting and training-only Z-scores are vital to eliminate look-ahead bias in agricultural modeling.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Picture 23" descr="image.png"/>
          <p:cNvPicPr/>
          <p:nvPr/>
        </p:nvPicPr>
        <p:blipFill>
          <a:blip r:embed="rId5"/>
          <a:stretch/>
        </p:blipFill>
        <p:spPr>
          <a:xfrm>
            <a:off x="463536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Box 36"/>
          <p:cNvSpPr/>
          <p:nvPr/>
        </p:nvSpPr>
        <p:spPr>
          <a:xfrm>
            <a:off x="4635360" y="3238560"/>
            <a:ext cx="30664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Domain Engineering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7"/>
          <p:cNvSpPr/>
          <p:nvPr/>
        </p:nvSpPr>
        <p:spPr>
          <a:xfrm>
            <a:off x="4635360" y="3638520"/>
            <a:ext cx="292032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Aridity ratios and soil-climate interaction terms outperform raw weather totals by capturing actual plant physiological stress.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1" name="Picture 25" descr="image.png"/>
          <p:cNvPicPr/>
          <p:nvPr/>
        </p:nvPicPr>
        <p:blipFill>
          <a:blip r:embed="rId6"/>
          <a:stretch/>
        </p:blipFill>
        <p:spPr>
          <a:xfrm>
            <a:off x="830880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TextBox 38"/>
          <p:cNvSpPr/>
          <p:nvPr/>
        </p:nvSpPr>
        <p:spPr>
          <a:xfrm>
            <a:off x="8308800" y="3238560"/>
            <a:ext cx="30661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Model Suitability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39"/>
          <p:cNvSpPr/>
          <p:nvPr/>
        </p:nvSpPr>
        <p:spPr>
          <a:xfrm>
            <a:off x="8308800" y="3638520"/>
            <a:ext cx="292032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Gradient-boosted trees decisively outperform heavy neural networks on tabular farm datasets due to axis-aligned splits.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26" descr="image.png"/>
          <p:cNvPicPr/>
          <p:nvPr/>
        </p:nvPicPr>
        <p:blipFill>
          <a:blip r:embed="rId1"/>
          <a:stretch/>
        </p:blipFill>
        <p:spPr>
          <a:xfrm>
            <a:off x="704880" y="2824200"/>
            <a:ext cx="5199840" cy="19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Picture 27" descr="image.png"/>
          <p:cNvPicPr/>
          <p:nvPr/>
        </p:nvPicPr>
        <p:blipFill>
          <a:blip r:embed="rId2"/>
          <a:stretch/>
        </p:blipFill>
        <p:spPr>
          <a:xfrm>
            <a:off x="6286680" y="2824200"/>
            <a:ext cx="5199840" cy="19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Box 40"/>
          <p:cNvSpPr/>
          <p:nvPr/>
        </p:nvSpPr>
        <p:spPr>
          <a:xfrm>
            <a:off x="704880" y="514440"/>
            <a:ext cx="113205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Project Reflection: Overcoming Architectural Hurdles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1"/>
          <p:cNvSpPr/>
          <p:nvPr/>
        </p:nvSpPr>
        <p:spPr>
          <a:xfrm>
            <a:off x="961920" y="3081240"/>
            <a:ext cx="49197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The TensorFlow LSTM Bottleneck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42"/>
          <p:cNvSpPr/>
          <p:nvPr/>
        </p:nvSpPr>
        <p:spPr>
          <a:xfrm>
            <a:off x="961920" y="3481560"/>
            <a:ext cx="468576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Initial sequence LSTMs in Keras suffered from high training times (&gt;1 hour per epoch) and overfitting on tabular noise. Pivoting to lighter PyTorch structures and GBDTs unlocked stable performance.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43"/>
          <p:cNvSpPr/>
          <p:nvPr/>
        </p:nvSpPr>
        <p:spPr>
          <a:xfrm>
            <a:off x="6543720" y="3081240"/>
            <a:ext cx="49197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Generalization via Normalization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44"/>
          <p:cNvSpPr/>
          <p:nvPr/>
        </p:nvSpPr>
        <p:spPr>
          <a:xfrm>
            <a:off x="6543720" y="3481560"/>
            <a:ext cx="468576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Moving away from raw weather totals to county-level Z-score anomalies successfully resolved regional climate bias between humid and arid production zones.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28" descr="image.png"/>
          <p:cNvPicPr/>
          <p:nvPr/>
        </p:nvPicPr>
        <p:blipFill>
          <a:blip r:embed="rId1"/>
          <a:stretch/>
        </p:blipFill>
        <p:spPr>
          <a:xfrm>
            <a:off x="704880" y="2666880"/>
            <a:ext cx="343440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Picture 29" descr="image.png"/>
          <p:cNvPicPr/>
          <p:nvPr/>
        </p:nvPicPr>
        <p:blipFill>
          <a:blip r:embed="rId2"/>
          <a:stretch/>
        </p:blipFill>
        <p:spPr>
          <a:xfrm>
            <a:off x="4378320" y="2666880"/>
            <a:ext cx="3434760" cy="22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30" descr="image.png"/>
          <p:cNvPicPr/>
          <p:nvPr/>
        </p:nvPicPr>
        <p:blipFill>
          <a:blip r:embed="rId3"/>
          <a:stretch/>
        </p:blipFill>
        <p:spPr>
          <a:xfrm>
            <a:off x="8051760" y="2666880"/>
            <a:ext cx="3434400" cy="22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TextBox 45"/>
          <p:cNvSpPr/>
          <p:nvPr/>
        </p:nvSpPr>
        <p:spPr>
          <a:xfrm>
            <a:off x="704880" y="514440"/>
            <a:ext cx="11320560" cy="4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5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Future Research Outlook &amp; Next Steps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Picture 31" descr="image.png"/>
          <p:cNvPicPr/>
          <p:nvPr/>
        </p:nvPicPr>
        <p:blipFill>
          <a:blip r:embed="rId4"/>
          <a:stretch/>
        </p:blipFill>
        <p:spPr>
          <a:xfrm>
            <a:off x="96192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Box 46"/>
          <p:cNvSpPr/>
          <p:nvPr/>
        </p:nvSpPr>
        <p:spPr>
          <a:xfrm>
            <a:off x="961920" y="3238560"/>
            <a:ext cx="30661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Remote Sensing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47"/>
          <p:cNvSpPr/>
          <p:nvPr/>
        </p:nvSpPr>
        <p:spPr>
          <a:xfrm>
            <a:off x="961920" y="3638520"/>
            <a:ext cx="292032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Integrating MODIS/Sentinel-2 NDVI, EVI, and Solar-Induced Fluorescence (SIF) for real-time canopy health monitoring.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32" descr="image.png"/>
          <p:cNvPicPr/>
          <p:nvPr/>
        </p:nvPicPr>
        <p:blipFill>
          <a:blip r:embed="rId5"/>
          <a:stretch/>
        </p:blipFill>
        <p:spPr>
          <a:xfrm>
            <a:off x="463536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Box 48"/>
          <p:cNvSpPr/>
          <p:nvPr/>
        </p:nvSpPr>
        <p:spPr>
          <a:xfrm>
            <a:off x="4635360" y="3238560"/>
            <a:ext cx="30664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Spatial GNNs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49"/>
          <p:cNvSpPr/>
          <p:nvPr/>
        </p:nvSpPr>
        <p:spPr>
          <a:xfrm>
            <a:off x="4635360" y="3638520"/>
            <a:ext cx="2920320" cy="12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Modeling county adjacency using Graph Neural Networks to capture cross-border weather spillovers and shared microclimates.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Picture 33" descr="image.png"/>
          <p:cNvPicPr/>
          <p:nvPr/>
        </p:nvPicPr>
        <p:blipFill>
          <a:blip r:embed="rId6"/>
          <a:stretch/>
        </p:blipFill>
        <p:spPr>
          <a:xfrm>
            <a:off x="8308800" y="2924280"/>
            <a:ext cx="29203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Box 50"/>
          <p:cNvSpPr/>
          <p:nvPr/>
        </p:nvSpPr>
        <p:spPr>
          <a:xfrm>
            <a:off x="8308800" y="3238560"/>
            <a:ext cx="30661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Commercial Deployment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51"/>
          <p:cNvSpPr/>
          <p:nvPr/>
        </p:nvSpPr>
        <p:spPr>
          <a:xfrm>
            <a:off x="8308800" y="3638520"/>
            <a:ext cx="292032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024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Lato"/>
              </a:rPr>
              <a:t>Deploying models into live commodity trading dashboards (e.g., Louis Dreyfus Company) for real-time risk simulation.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Picture 1" descr="image.png"/>
          <p:cNvPicPr/>
          <p:nvPr/>
        </p:nvPicPr>
        <p:blipFill>
          <a:blip r:embed="rId1"/>
          <a:stretch/>
        </p:blipFill>
        <p:spPr>
          <a:xfrm>
            <a:off x="4343400" y="4534200"/>
            <a:ext cx="3771360" cy="95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Box 2"/>
          <p:cNvSpPr/>
          <p:nvPr/>
        </p:nvSpPr>
        <p:spPr>
          <a:xfrm>
            <a:off x="4590720" y="2152800"/>
            <a:ext cx="3009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506E4B"/>
                </a:solidFill>
                <a:effectLst/>
                <a:uFillTx/>
                <a:latin typeface="Poppins"/>
              </a:rPr>
              <a:t>Thank You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3"/>
          <p:cNvSpPr/>
          <p:nvPr/>
        </p:nvSpPr>
        <p:spPr>
          <a:xfrm>
            <a:off x="5029200" y="3657600"/>
            <a:ext cx="21711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475"/>
              </a:lnSpc>
            </a:pPr>
            <a:r>
              <a:rPr lang="en-US" sz="1650" b="0" u="none" strike="noStrike">
                <a:solidFill>
                  <a:srgbClr val="333333"/>
                </a:solidFill>
                <a:effectLst/>
                <a:uFillTx/>
                <a:latin typeface="Lato"/>
              </a:rPr>
              <a:t>Questions &amp; Discussion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4"/>
          <p:cNvSpPr/>
          <p:nvPr/>
        </p:nvSpPr>
        <p:spPr>
          <a:xfrm>
            <a:off x="4800600" y="4772520"/>
            <a:ext cx="29710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024"/>
              </a:lnSpc>
            </a:pPr>
            <a:r>
              <a:rPr lang="en-US" sz="1350" b="1" u="none" strike="noStrike">
                <a:solidFill>
                  <a:srgbClr val="1E293B"/>
                </a:solidFill>
                <a:effectLst/>
                <a:uFillTx/>
                <a:latin typeface="Lato"/>
              </a:rPr>
              <a:t>Walter Hampton III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5"/>
          <p:cNvSpPr/>
          <p:nvPr/>
        </p:nvSpPr>
        <p:spPr>
          <a:xfrm>
            <a:off x="4572000" y="5029560"/>
            <a:ext cx="342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Lato"/>
              </a:rPr>
              <a:t>M1 MLDM Student | Université Jean Monnet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2026-08-28T14:22:48Z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